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27a716f2e449ad" /><Relationship Type="http://schemas.openxmlformats.org/officeDocument/2006/relationships/extended-properties" Target="/docProps/app.xml" Id="R9e0c94e507c9429e" /><Relationship Type="http://schemas.openxmlformats.org/officeDocument/2006/relationships/officeDocument" Target="/ppt/presentation.xml" Id="R5804f2c15049438b" /></Relationships>
</file>

<file path=ppt/presentation.xml><?xml version="1.0" encoding="utf-8"?>
<p:presentation xmlns:p="http://schemas.openxmlformats.org/presentationml/2006/main">
  <p:sldMasterIdLst>
    <p:sldMasterId xmlns:r="http://schemas.openxmlformats.org/officeDocument/2006/relationships" id="2147483648" r:id="R9c7ff86f39124eea"/>
  </p:sldMasterIdLst>
  <p:notesMasterIdLst>
    <p:notesMasterId xmlns:r="http://schemas.openxmlformats.org/officeDocument/2006/relationships" r:id="R55ddce706275485d"/>
  </p:notesMasterIdLst>
  <p:sldIdLst>
    <p:sldId xmlns:r="http://schemas.openxmlformats.org/officeDocument/2006/relationships" id="256" r:id="R142ad03199cf4cd5"/>
    <p:sldId xmlns:r="http://schemas.openxmlformats.org/officeDocument/2006/relationships" id="257" r:id="R33fa0ba422454103"/>
    <p:sldId xmlns:r="http://schemas.openxmlformats.org/officeDocument/2006/relationships" id="258" r:id="Rfd6661a67182424f"/>
    <p:sldId xmlns:r="http://schemas.openxmlformats.org/officeDocument/2006/relationships" id="259" r:id="Rbb4f3cc88d1845bc"/>
    <p:sldId xmlns:r="http://schemas.openxmlformats.org/officeDocument/2006/relationships" id="260" r:id="Ra3df105ad5064916"/>
    <p:sldId xmlns:r="http://schemas.openxmlformats.org/officeDocument/2006/relationships" id="261" r:id="Rf42036555db744e0"/>
    <p:sldId xmlns:r="http://schemas.openxmlformats.org/officeDocument/2006/relationships" id="262" r:id="R1ca76ced83dd45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8d472035824e71" /><Relationship Type="http://schemas.openxmlformats.org/officeDocument/2006/relationships/slideMaster" Target="/ppt/slideMasters/slideMaster1.xml" Id="R9c7ff86f39124eea" /><Relationship Type="http://schemas.openxmlformats.org/officeDocument/2006/relationships/notesMaster" Target="/ppt/notesMasters/notesMaster1.xml" Id="R55ddce706275485d" /><Relationship Type="http://schemas.openxmlformats.org/officeDocument/2006/relationships/presProps" Target="/ppt/presProps.xml" Id="Rc139ec0a9fc74dcd" /><Relationship Type="http://schemas.openxmlformats.org/officeDocument/2006/relationships/tableStyles" Target="/ppt/tableStyles.xml" Id="R4aac4854b35a45e2" /><Relationship Type="http://schemas.openxmlformats.org/officeDocument/2006/relationships/slide" Target="/ppt/slides/slide1.xml" Id="R142ad03199cf4cd5" /><Relationship Type="http://schemas.openxmlformats.org/officeDocument/2006/relationships/slide" Target="/ppt/slides/slide2.xml" Id="R33fa0ba422454103" /><Relationship Type="http://schemas.openxmlformats.org/officeDocument/2006/relationships/slide" Target="/ppt/slides/slide3.xml" Id="Rfd6661a67182424f" /><Relationship Type="http://schemas.openxmlformats.org/officeDocument/2006/relationships/slide" Target="/ppt/slides/slide4.xml" Id="Rbb4f3cc88d1845bc" /><Relationship Type="http://schemas.openxmlformats.org/officeDocument/2006/relationships/slide" Target="/ppt/slides/slide5.xml" Id="Ra3df105ad5064916" /><Relationship Type="http://schemas.openxmlformats.org/officeDocument/2006/relationships/slide" Target="/ppt/slides/slide6.xml" Id="Rf42036555db744e0" /><Relationship Type="http://schemas.openxmlformats.org/officeDocument/2006/relationships/slide" Target="/ppt/slides/slide7.xml" Id="R1ca76ced83dd45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75c935299045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bde42a73dc42ea" /><Relationship Type="http://schemas.openxmlformats.org/officeDocument/2006/relationships/notesMaster" Target="/ppt/notesMasters/notesMaster1.xml" Id="Rb94665f5e27c49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d96b61e41145bc" /><Relationship Type="http://schemas.openxmlformats.org/officeDocument/2006/relationships/notesMaster" Target="/ppt/notesMasters/notesMaster1.xml" Id="R80b2f68fec0b40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d864c435a04a97" /><Relationship Type="http://schemas.openxmlformats.org/officeDocument/2006/relationships/notesMaster" Target="/ppt/notesMasters/notesMaster1.xml" Id="R8ea7fb399b7f49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0d3c157f50472f" /><Relationship Type="http://schemas.openxmlformats.org/officeDocument/2006/relationships/notesMaster" Target="/ppt/notesMasters/notesMaster1.xml" Id="R51931c7888eb44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89ba96149c4d83" /><Relationship Type="http://schemas.openxmlformats.org/officeDocument/2006/relationships/notesMaster" Target="/ppt/notesMasters/notesMaster1.xml" Id="Rd0541ab30fb54a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8b50c3cb434ac6" /><Relationship Type="http://schemas.openxmlformats.org/officeDocument/2006/relationships/notesMaster" Target="/ppt/notesMasters/notesMaster1.xml" Id="Rf920434ae52845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510ed15a8940f0" /><Relationship Type="http://schemas.openxmlformats.org/officeDocument/2006/relationships/notesMaster" Target="/ppt/notesMasters/notesMaster1.xml" Id="R7333b548fe7d42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Three students want one room. CrewFund keeps the pooled payment under program rules rather than one friend’s private control. Current verified network: Localnet, not Devnet.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qualitative product scenario, not a market-size claim. No surveys, revenue or partnerships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Contract source: outputs/crewfund/program/src/lib.rs. Each fixed participant deposits 10,000,000 lamports once. The hotel receives exactly 30,000,000 lamports. Fees are separate. Deadline uses the Solana Clock sysvar.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technical references checked: https://solana.com/docs/core/pda ; https://solana.com/docs/core/accounts ; https://solana.com/docs/programs/rust . Localnet program CsP2XV9HKm95uETQ2zY7TnETF4oxQ8GLnGYBme7isKgq. solana program show verified Authority: none.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outputs/crewfund/evidence-localnet.txt and README.md. Five integration tests ran against Agave 4.3.0 local validator with the compiled SBPFv3 program, not mocked logic. Browser payout signature: 5hadPx5SNp7ZJrhBeE7tdP48XoD4gGJtNonjtHPMZxd68PGMZSHDC3vJQcsYJKasaGCYfy4LJtn6V2tH8yFx1RqU. Screenshot is the real Localnet browser demo. This signature is not Devnet Explorer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proposal only. No recruitment, interviews, hotel partnerships or demand validation have occurred. The Superteam WHU listing asks for intended users, utility and how to reach initial users: https://superteam.fun/earn/listing/build-at-whu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production readiness or real booking is claimed. Devnet RPC was reachable. Two CLI requests for Devnet test SOL were rejected by rate limit and the funding wallet balance remained zero. Deadline supplied by user: 4 October 2026, 23:59 Europe/Berlin.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04cf5ae4484f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ef0f4af5ef4da8" /><Relationship Type="http://schemas.openxmlformats.org/officeDocument/2006/relationships/slideLayout" Target="/ppt/slideLayouts/slideLayout1.xml" Id="R0a92061c561343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92061c561343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1aecc0f25443cd" /><Relationship Type="http://schemas.openxmlformats.org/officeDocument/2006/relationships/notesSlide" Target="/ppt/notesSlides/notesSlide1.xml" Id="R9840d97acf6b49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0db815f1e540b2" /><Relationship Type="http://schemas.openxmlformats.org/officeDocument/2006/relationships/notesSlide" Target="/ppt/notesSlides/notesSlide2.xml" Id="R68a0c36e771742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2e6abd0b1b4206" /><Relationship Type="http://schemas.openxmlformats.org/officeDocument/2006/relationships/notesSlide" Target="/ppt/notesSlides/notesSlide3.xml" Id="R2bcfc1d9a7984e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a50f77e5484f55" /><Relationship Type="http://schemas.openxmlformats.org/officeDocument/2006/relationships/notesSlide" Target="/ppt/notesSlides/notesSlide4.xml" Id="R9117a8b2942346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57f0c22f1f459f" /><Relationship Type="http://schemas.openxmlformats.org/officeDocument/2006/relationships/image" Target="/ppt/media/image.jpeg" Id="Ra7f66717da1949d8" /><Relationship Type="http://schemas.openxmlformats.org/officeDocument/2006/relationships/notesSlide" Target="/ppt/notesSlides/notesSlide5.xml" Id="R2e28c0aabae647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fdae0d3f7c4b9f" /><Relationship Type="http://schemas.openxmlformats.org/officeDocument/2006/relationships/notesSlide" Target="/ppt/notesSlides/notesSlide6.xml" Id="Ra83a58d8ebd945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dc757d6e6143ed" /><Relationship Type="http://schemas.openxmlformats.org/officeDocument/2006/relationships/notesSlide" Target="/ppt/notesSlides/notesSlide7.xml" Id="Rd29b1961b4b54f2d" /></Relationships>
</file>

<file path=ppt/slides/slide1.xml><?xml version="1.0" encoding="utf-8"?>
<p:sld xmlns:p="http://schemas.openxmlformats.org/presentationml/2006/main">
  <p:cSld>
    <p:bg>
      <p:bgPr>
        <a:solidFill xmlns:a="http://schemas.openxmlformats.org/drawingml/2006/main">
          <a:srgbClr val="19372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EB85271-3991-467C-96BD-F36068CC7583}"/>
              </a:ext>
            </a:extLst>
          </p:cNvPr>
          <p:cNvSpPr>
            <a:spLocks xmlns:a="http://schemas.openxmlformats.org/drawingml/2006/main" noGrp="1"/>
          </p:cNvSpPr>
          <p:nvPr/>
        </p:nvSpPr>
        <p:spPr>
          <a:xfrm xmlns:a="http://schemas.openxmlformats.org/drawingml/2006/main">
            <a:off x="762000" y="1428750"/>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D2F79A"/>
                </a:solidFill>
                <a:latin typeface="Helvetica Neue"/>
                <a:ea typeface="Helvetica Neue"/>
                <a:cs typeface="Helvetica Neue"/>
              </a:defRPr>
            </a:pPr>
            <a:r>
              <a:rPr sz="6900" b="1">
                <a:solidFill>
                  <a:srgbClr val="D2F79A"/>
                </a:solidFill>
                <a:latin typeface="Helvetica Neue"/>
                <a:ea typeface="Helvetica Neue"/>
                <a:cs typeface="Helvetica Neue"/>
              </a:rPr>
              <a:t>CrewFund</a:t>
            </a:r>
          </a:p>
        </p:txBody>
      </p:sp>
      <p:sp>
        <p:nvSpPr>
          <p:cNvPr id="2" name="">
            <a:extLst xmlns:a="http://schemas.openxmlformats.org/drawingml/2006/main">
              <a:ext uri="{FF2B5EF4-FFF2-40B4-BE49-F238E27FC236}">
                <a16:creationId xmlns:a16="http://schemas.microsoft.com/office/drawing/2014/main" id="{4D844322-D3E8-4068-B8EC-BDCE9ED512C7}"/>
              </a:ext>
            </a:extLst>
          </p:cNvPr>
          <p:cNvSpPr>
            <a:spLocks xmlns:a="http://schemas.openxmlformats.org/drawingml/2006/main" noGrp="1"/>
          </p:cNvSpPr>
          <p:nvPr/>
        </p:nvSpPr>
        <p:spPr>
          <a:xfrm xmlns:a="http://schemas.openxmlformats.org/drawingml/2006/main">
            <a:off x="790575" y="2952750"/>
            <a:ext cx="990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Group accommodation funding</a:t>
            </a:r>
          </a:p>
          <a:p xmlns:a="http://schemas.openxmlformats.org/drawingml/2006/main">
            <a:pPr>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with individual refund rights</a:t>
            </a:r>
          </a:p>
        </p:txBody>
      </p:sp>
      <p:sp>
        <p:nvSpPr>
          <p:cNvPr id="3" name="">
            <a:extLst xmlns:a="http://schemas.openxmlformats.org/drawingml/2006/main">
              <a:ext uri="{FF2B5EF4-FFF2-40B4-BE49-F238E27FC236}">
                <a16:creationId xmlns:a16="http://schemas.microsoft.com/office/drawing/2014/main" id="{A91203E4-1E5C-4833-905C-EC547B07C316}"/>
              </a:ext>
            </a:extLst>
          </p:cNvPr>
          <p:cNvSpPr>
            <a:spLocks xmlns:a="http://schemas.openxmlformats.org/drawingml/2006/main" noGrp="1"/>
          </p:cNvSpPr>
          <p:nvPr/>
        </p:nvSpPr>
        <p:spPr>
          <a:xfrm xmlns:a="http://schemas.openxmlformats.org/drawingml/2006/main">
            <a:off x="809625" y="544830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6D4BF"/>
                </a:solidFill>
                <a:latin typeface="Helvetica Neue"/>
                <a:ea typeface="Helvetica Neue"/>
                <a:cs typeface="Helvetica Neue"/>
              </a:defRPr>
            </a:pPr>
            <a:r>
              <a:rPr sz="1725" b="0">
                <a:solidFill>
                  <a:srgbClr val="C6D4BF"/>
                </a:solidFill>
                <a:latin typeface="Helvetica Neue"/>
                <a:ea typeface="Helvetica Neue"/>
                <a:cs typeface="Helvetica Neue"/>
              </a:rPr>
              <a:t>WHU Hackathon 2026</a:t>
            </a:r>
          </a:p>
          <a:p xmlns:a="http://schemas.openxmlformats.org/drawingml/2006/main">
            <a:pPr>
              <a:defRPr sz="1725" b="0">
                <a:solidFill>
                  <a:srgbClr val="C6D4BF"/>
                </a:solidFill>
                <a:latin typeface="Helvetica Neue"/>
                <a:ea typeface="Helvetica Neue"/>
                <a:cs typeface="Helvetica Neue"/>
              </a:defRPr>
            </a:pPr>
            <a:r>
              <a:rPr sz="1725" b="0">
                <a:solidFill>
                  <a:srgbClr val="C6D4BF"/>
                </a:solidFill>
                <a:latin typeface="Helvetica Neue"/>
                <a:ea typeface="Helvetica Neue"/>
                <a:cs typeface="Helvetica Neue"/>
              </a:rPr>
              <a:t>Fictional hotel. Test SOL. Verified Localnet demo.</a:t>
            </a:r>
          </a:p>
        </p:txBody>
      </p:sp>
    </p:spTree>
    <p:extLst>
      <p:ext uri="{BB962C8B-B14F-4D97-AF65-F5344CB8AC3E}">
        <p14:creationId xmlns:p14="http://schemas.microsoft.com/office/powerpoint/2010/main" val="491821825"/>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58CECF-48CF-4B13-B63C-D6DF3C235863}"/>
              </a:ext>
            </a:extLst>
          </p:cNvPr>
          <p:cNvSpPr>
            <a:spLocks xmlns:a="http://schemas.openxmlformats.org/drawingml/2006/main" noGrp="1"/>
          </p:cNvSpPr>
          <p:nvPr/>
        </p:nvSpPr>
        <p:spPr>
          <a:xfrm xmlns:a="http://schemas.openxmlformats.org/drawingml/2006/main">
            <a:off x="666750" y="4953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72E"/>
                </a:solidFill>
                <a:latin typeface="Helvetica Neue"/>
                <a:ea typeface="Helvetica Neue"/>
                <a:cs typeface="Helvetica Neue"/>
              </a:defRPr>
            </a:pPr>
            <a:r>
              <a:rPr sz="3450" b="1">
                <a:solidFill>
                  <a:srgbClr val="19372E"/>
                </a:solidFill>
                <a:latin typeface="Helvetica Neue"/>
                <a:ea typeface="Helvetica Neue"/>
                <a:cs typeface="Helvetica Neue"/>
              </a:rPr>
              <a:t>The group-payment problem</a:t>
            </a:r>
          </a:p>
        </p:txBody>
      </p:sp>
      <p:sp>
        <p:nvSpPr>
          <p:cNvPr id="2" name="">
            <a:extLst xmlns:a="http://schemas.openxmlformats.org/drawingml/2006/main">
              <a:ext uri="{FF2B5EF4-FFF2-40B4-BE49-F238E27FC236}">
                <a16:creationId xmlns:a16="http://schemas.microsoft.com/office/drawing/2014/main" id="{E7C6B785-2C5D-4B2E-B8E9-0593CA524FCB}"/>
              </a:ext>
            </a:extLst>
          </p:cNvPr>
          <p:cNvSpPr>
            <a:spLocks xmlns:a="http://schemas.openxmlformats.org/drawingml/2006/main" noGrp="1"/>
          </p:cNvSpPr>
          <p:nvPr/>
        </p:nvSpPr>
        <p:spPr>
          <a:xfrm xmlns:a="http://schemas.openxmlformats.org/drawingml/2006/main">
            <a:off x="666750" y="62579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F8268"/>
                </a:solidFill>
                <a:latin typeface="Helvetica Neue"/>
                <a:ea typeface="Helvetica Neue"/>
                <a:cs typeface="Helvetica Neue"/>
              </a:defRPr>
            </a:pPr>
            <a:r>
              <a:rPr sz="1275" b="0">
                <a:solidFill>
                  <a:srgbClr val="6F8268"/>
                </a:solidFill>
                <a:latin typeface="Helvetica Neue"/>
                <a:ea typeface="Helvetica Neue"/>
                <a:cs typeface="Helvetica Neue"/>
              </a:rPr>
              <a:t>CrewFund / Test SOL prototype</a:t>
            </a:r>
          </a:p>
        </p:txBody>
      </p:sp>
      <p:sp>
        <p:nvSpPr>
          <p:cNvPr id="3" name="">
            <a:extLst xmlns:a="http://schemas.openxmlformats.org/drawingml/2006/main">
              <a:ext uri="{FF2B5EF4-FFF2-40B4-BE49-F238E27FC236}">
                <a16:creationId xmlns:a16="http://schemas.microsoft.com/office/drawing/2014/main" id="{2831757B-EB94-4026-925A-D8D5A1CC4AEF}"/>
              </a:ext>
            </a:extLst>
          </p:cNvPr>
          <p:cNvSpPr>
            <a:spLocks xmlns:a="http://schemas.openxmlformats.org/drawingml/2006/main" noGrp="1"/>
          </p:cNvSpPr>
          <p:nvPr/>
        </p:nvSpPr>
        <p:spPr>
          <a:xfrm xmlns:a="http://schemas.openxmlformats.org/drawingml/2006/main">
            <a:off x="666750" y="180975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9372E"/>
                </a:solidFill>
                <a:latin typeface="Helvetica Neue"/>
                <a:ea typeface="Helvetica Neue"/>
                <a:cs typeface="Helvetica Neue"/>
              </a:defRPr>
            </a:pPr>
            <a:r>
              <a:rPr sz="2850" b="1">
                <a:solidFill>
                  <a:srgbClr val="19372E"/>
                </a:solidFill>
                <a:latin typeface="Helvetica Neue"/>
                <a:ea typeface="Helvetica Neue"/>
                <a:cs typeface="Helvetica Neue"/>
              </a:rPr>
              <a:t>Three students want to book one room.</a:t>
            </a:r>
          </a:p>
        </p:txBody>
      </p:sp>
      <p:sp>
        <p:nvSpPr>
          <p:cNvPr id="4" name="">
            <a:extLst xmlns:a="http://schemas.openxmlformats.org/drawingml/2006/main">
              <a:ext uri="{FF2B5EF4-FFF2-40B4-BE49-F238E27FC236}">
                <a16:creationId xmlns:a16="http://schemas.microsoft.com/office/drawing/2014/main" id="{B1859CEC-EF57-4019-9A6A-95DA6325E2CC}"/>
              </a:ext>
            </a:extLst>
          </p:cNvPr>
          <p:cNvSpPr>
            <a:spLocks xmlns:a="http://schemas.openxmlformats.org/drawingml/2006/main" noGrp="1"/>
          </p:cNvSpPr>
          <p:nvPr/>
        </p:nvSpPr>
        <p:spPr>
          <a:xfrm xmlns:a="http://schemas.openxmlformats.org/drawingml/2006/main">
            <a:off x="666750" y="2857500"/>
            <a:ext cx="1009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F8268"/>
                </a:solidFill>
                <a:latin typeface="Helvetica Neue"/>
                <a:ea typeface="Helvetica Neue"/>
                <a:cs typeface="Helvetica Neue"/>
              </a:defRPr>
            </a:pPr>
            <a:r>
              <a:rPr sz="2400" b="0">
                <a:solidFill>
                  <a:srgbClr val="6F8268"/>
                </a:solidFill>
                <a:latin typeface="Helvetica Neue"/>
                <a:ea typeface="Helvetica Neue"/>
                <a:cs typeface="Helvetica Neue"/>
              </a:rPr>
              <a:t>One friend collects the money.</a:t>
            </a:r>
          </a:p>
          <a:p xmlns:a="http://schemas.openxmlformats.org/drawingml/2006/main">
            <a:pPr>
              <a:defRPr sz="2400" b="0">
                <a:solidFill>
                  <a:srgbClr val="6F8268"/>
                </a:solidFill>
                <a:latin typeface="Helvetica Neue"/>
                <a:ea typeface="Helvetica Neue"/>
                <a:cs typeface="Helvetica Neue"/>
              </a:defRPr>
            </a:pPr>
            <a:r>
              <a:rPr sz="2400" b="0">
                <a:solidFill>
                  <a:srgbClr val="6F8268"/>
                </a:solidFill>
                <a:latin typeface="Helvetica Neue"/>
                <a:ea typeface="Helvetica Neue"/>
                <a:cs typeface="Helvetica Neue"/>
              </a:rPr>
              <a:t>The others depend on that friend to pay the hotel</a:t>
            </a:r>
          </a:p>
          <a:p xmlns:a="http://schemas.openxmlformats.org/drawingml/2006/main">
            <a:pPr>
              <a:defRPr sz="2400" b="0">
                <a:solidFill>
                  <a:srgbClr val="6F8268"/>
                </a:solidFill>
                <a:latin typeface="Helvetica Neue"/>
                <a:ea typeface="Helvetica Neue"/>
                <a:cs typeface="Helvetica Neue"/>
              </a:defRPr>
            </a:pPr>
            <a:r>
              <a:rPr sz="2400" b="0">
                <a:solidFill>
                  <a:srgbClr val="6F8268"/>
                </a:solidFill>
                <a:latin typeface="Helvetica Neue"/>
                <a:ea typeface="Helvetica Neue"/>
                <a:cs typeface="Helvetica Neue"/>
              </a:rPr>
              <a:t>and return contributions if the plan fails.</a:t>
            </a:r>
          </a:p>
        </p:txBody>
      </p:sp>
      <p:sp>
        <p:nvSpPr>
          <p:cNvPr id="5" name="">
            <a:extLst xmlns:a="http://schemas.openxmlformats.org/drawingml/2006/main">
              <a:ext uri="{FF2B5EF4-FFF2-40B4-BE49-F238E27FC236}">
                <a16:creationId xmlns:a16="http://schemas.microsoft.com/office/drawing/2014/main" id="{EA72561D-BD96-42E8-9CC6-2E87285A48B7}"/>
              </a:ext>
            </a:extLst>
          </p:cNvPr>
          <p:cNvSpPr>
            <a:spLocks xmlns:a="http://schemas.openxmlformats.org/drawingml/2006/main" noGrp="1"/>
          </p:cNvSpPr>
          <p:nvPr/>
        </p:nvSpPr>
        <p:spPr>
          <a:xfrm xmlns:a="http://schemas.openxmlformats.org/drawingml/2006/main">
            <a:off x="66675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372E"/>
                </a:solidFill>
                <a:latin typeface="Helvetica Neue"/>
                <a:ea typeface="Helvetica Neue"/>
                <a:cs typeface="Helvetica Neue"/>
              </a:defRPr>
            </a:pPr>
            <a:r>
              <a:rPr sz="2400" b="1">
                <a:solidFill>
                  <a:srgbClr val="19372E"/>
                </a:solidFill>
                <a:latin typeface="Helvetica Neue"/>
                <a:ea typeface="Helvetica Neue"/>
                <a:cs typeface="Helvetica Neue"/>
              </a:rPr>
              <a:t>CrewFund fixes who can receive the pooled payment.</a:t>
            </a:r>
          </a:p>
        </p:txBody>
      </p:sp>
    </p:spTree>
    <p:extLst>
      <p:ext uri="{BB962C8B-B14F-4D97-AF65-F5344CB8AC3E}">
        <p14:creationId xmlns:p14="http://schemas.microsoft.com/office/powerpoint/2010/main" val="925400901"/>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0EF4DE-C788-434E-9D7E-969A24F047F3}"/>
              </a:ext>
            </a:extLst>
          </p:cNvPr>
          <p:cNvSpPr>
            <a:spLocks xmlns:a="http://schemas.openxmlformats.org/drawingml/2006/main" noGrp="1"/>
          </p:cNvSpPr>
          <p:nvPr/>
        </p:nvSpPr>
        <p:spPr>
          <a:xfrm xmlns:a="http://schemas.openxmlformats.org/drawingml/2006/main">
            <a:off x="666750" y="4953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72E"/>
                </a:solidFill>
                <a:latin typeface="Helvetica Neue"/>
                <a:ea typeface="Helvetica Neue"/>
                <a:cs typeface="Helvetica Neue"/>
              </a:defRPr>
            </a:pPr>
            <a:r>
              <a:rPr sz="3450" b="1">
                <a:solidFill>
                  <a:srgbClr val="19372E"/>
                </a:solidFill>
                <a:latin typeface="Helvetica Neue"/>
                <a:ea typeface="Helvetica Neue"/>
                <a:cs typeface="Helvetica Neue"/>
              </a:rPr>
              <a:t>Payment rules</a:t>
            </a:r>
          </a:p>
        </p:txBody>
      </p:sp>
      <p:sp>
        <p:nvSpPr>
          <p:cNvPr id="2" name="">
            <a:extLst xmlns:a="http://schemas.openxmlformats.org/drawingml/2006/main">
              <a:ext uri="{FF2B5EF4-FFF2-40B4-BE49-F238E27FC236}">
                <a16:creationId xmlns:a16="http://schemas.microsoft.com/office/drawing/2014/main" id="{5A3FF9B1-CE2D-4852-A22D-67BB582B6118}"/>
              </a:ext>
            </a:extLst>
          </p:cNvPr>
          <p:cNvSpPr>
            <a:spLocks xmlns:a="http://schemas.openxmlformats.org/drawingml/2006/main" noGrp="1"/>
          </p:cNvSpPr>
          <p:nvPr/>
        </p:nvSpPr>
        <p:spPr>
          <a:xfrm xmlns:a="http://schemas.openxmlformats.org/drawingml/2006/main">
            <a:off x="666750" y="62579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F8268"/>
                </a:solidFill>
                <a:latin typeface="Helvetica Neue"/>
                <a:ea typeface="Helvetica Neue"/>
                <a:cs typeface="Helvetica Neue"/>
              </a:defRPr>
            </a:pPr>
            <a:r>
              <a:rPr sz="1275" b="0">
                <a:solidFill>
                  <a:srgbClr val="6F8268"/>
                </a:solidFill>
                <a:latin typeface="Helvetica Neue"/>
                <a:ea typeface="Helvetica Neue"/>
                <a:cs typeface="Helvetica Neue"/>
              </a:rPr>
              <a:t>CrewFund / Test SOL prototype</a:t>
            </a:r>
          </a:p>
        </p:txBody>
      </p:sp>
      <p:sp>
        <p:nvSpPr>
          <p:cNvPr id="3" name="">
            <a:extLst xmlns:a="http://schemas.openxmlformats.org/drawingml/2006/main">
              <a:ext uri="{FF2B5EF4-FFF2-40B4-BE49-F238E27FC236}">
                <a16:creationId xmlns:a16="http://schemas.microsoft.com/office/drawing/2014/main" id="{D3DAC4B6-7F1C-47FB-BB6E-D4A4FAC84A22}"/>
              </a:ext>
            </a:extLst>
          </p:cNvPr>
          <p:cNvSpPr>
            <a:spLocks xmlns:a="http://schemas.openxmlformats.org/drawingml/2006/main" noGrp="1"/>
          </p:cNvSpPr>
          <p:nvPr/>
        </p:nvSpPr>
        <p:spPr>
          <a:xfrm xmlns:a="http://schemas.openxmlformats.org/drawingml/2006/main">
            <a:off x="666750" y="17907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6F8268"/>
                </a:solidFill>
                <a:latin typeface="Helvetica Neue"/>
                <a:ea typeface="Helvetica Neue"/>
                <a:cs typeface="Helvetica Neue"/>
              </a:defRPr>
            </a:pPr>
            <a:r>
              <a:rPr sz="4800" b="1">
                <a:solidFill>
                  <a:srgbClr val="6F8268"/>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9811B9B9-A3B4-439F-8AA5-B494D707FA50}"/>
              </a:ext>
            </a:extLst>
          </p:cNvPr>
          <p:cNvSpPr>
            <a:spLocks xmlns:a="http://schemas.openxmlformats.org/drawingml/2006/main" noGrp="1"/>
          </p:cNvSpPr>
          <p:nvPr/>
        </p:nvSpPr>
        <p:spPr>
          <a:xfrm xmlns:a="http://schemas.openxmlformats.org/drawingml/2006/main">
            <a:off x="666750" y="28765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372E"/>
                </a:solidFill>
                <a:latin typeface="Helvetica Neue"/>
                <a:ea typeface="Helvetica Neue"/>
                <a:cs typeface="Helvetica Neue"/>
              </a:defRPr>
            </a:pPr>
            <a:r>
              <a:rPr sz="2325" b="1">
                <a:solidFill>
                  <a:srgbClr val="19372E"/>
                </a:solidFill>
                <a:latin typeface="Helvetica Neue"/>
                <a:ea typeface="Helvetica Neue"/>
                <a:cs typeface="Helvetica Neue"/>
              </a:rPr>
              <a:t>Each student funds</a:t>
            </a:r>
          </a:p>
        </p:txBody>
      </p:sp>
      <p:sp>
        <p:nvSpPr>
          <p:cNvPr id="5" name="">
            <a:extLst xmlns:a="http://schemas.openxmlformats.org/drawingml/2006/main">
              <a:ext uri="{FF2B5EF4-FFF2-40B4-BE49-F238E27FC236}">
                <a16:creationId xmlns:a16="http://schemas.microsoft.com/office/drawing/2014/main" id="{6F6D7376-0D30-42A9-9438-0A2EFD31AC65}"/>
              </a:ext>
            </a:extLst>
          </p:cNvPr>
          <p:cNvSpPr>
            <a:spLocks xmlns:a="http://schemas.openxmlformats.org/drawingml/2006/main" noGrp="1"/>
          </p:cNvSpPr>
          <p:nvPr/>
        </p:nvSpPr>
        <p:spPr>
          <a:xfrm xmlns:a="http://schemas.openxmlformats.org/drawingml/2006/main">
            <a:off x="666750" y="3943350"/>
            <a:ext cx="3238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0.01 Test SOL each</a:t>
            </a:r>
          </a:p>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Three fixed signers</a:t>
            </a:r>
          </a:p>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One deposit per person</a:t>
            </a:r>
          </a:p>
        </p:txBody>
      </p:sp>
      <p:sp>
        <p:nvSpPr>
          <p:cNvPr id="6" name="">
            <a:extLst xmlns:a="http://schemas.openxmlformats.org/drawingml/2006/main">
              <a:ext uri="{FF2B5EF4-FFF2-40B4-BE49-F238E27FC236}">
                <a16:creationId xmlns:a16="http://schemas.microsoft.com/office/drawing/2014/main" id="{858B6579-987B-4082-AD43-4B2F8E896747}"/>
              </a:ext>
            </a:extLst>
          </p:cNvPr>
          <p:cNvSpPr>
            <a:spLocks xmlns:a="http://schemas.openxmlformats.org/drawingml/2006/main" noGrp="1"/>
          </p:cNvSpPr>
          <p:nvPr/>
        </p:nvSpPr>
        <p:spPr>
          <a:xfrm xmlns:a="http://schemas.openxmlformats.org/drawingml/2006/main">
            <a:off x="4476750" y="17907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6F8268"/>
                </a:solidFill>
                <a:latin typeface="Helvetica Neue"/>
                <a:ea typeface="Helvetica Neue"/>
                <a:cs typeface="Helvetica Neue"/>
              </a:defRPr>
            </a:pPr>
            <a:r>
              <a:rPr sz="4800" b="1">
                <a:solidFill>
                  <a:srgbClr val="6F8268"/>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AE6A690F-4858-4988-B01E-34F554EF3240}"/>
              </a:ext>
            </a:extLst>
          </p:cNvPr>
          <p:cNvSpPr>
            <a:spLocks xmlns:a="http://schemas.openxmlformats.org/drawingml/2006/main" noGrp="1"/>
          </p:cNvSpPr>
          <p:nvPr/>
        </p:nvSpPr>
        <p:spPr>
          <a:xfrm xmlns:a="http://schemas.openxmlformats.org/drawingml/2006/main">
            <a:off x="4476750" y="28765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372E"/>
                </a:solidFill>
                <a:latin typeface="Helvetica Neue"/>
                <a:ea typeface="Helvetica Neue"/>
                <a:cs typeface="Helvetica Neue"/>
              </a:defRPr>
            </a:pPr>
            <a:r>
              <a:rPr sz="2325" b="1">
                <a:solidFill>
                  <a:srgbClr val="19372E"/>
                </a:solidFill>
                <a:latin typeface="Helvetica Neue"/>
                <a:ea typeface="Helvetica Neue"/>
                <a:cs typeface="Helvetica Neue"/>
              </a:rPr>
              <a:t>The hotel confirms</a:t>
            </a:r>
          </a:p>
        </p:txBody>
      </p:sp>
      <p:sp>
        <p:nvSpPr>
          <p:cNvPr id="8" name="">
            <a:extLst xmlns:a="http://schemas.openxmlformats.org/drawingml/2006/main">
              <a:ext uri="{FF2B5EF4-FFF2-40B4-BE49-F238E27FC236}">
                <a16:creationId xmlns:a16="http://schemas.microsoft.com/office/drawing/2014/main" id="{B9162EB0-E880-4E42-9D78-4A69E2771143}"/>
              </a:ext>
            </a:extLst>
          </p:cNvPr>
          <p:cNvSpPr>
            <a:spLocks xmlns:a="http://schemas.openxmlformats.org/drawingml/2006/main" noGrp="1"/>
          </p:cNvSpPr>
          <p:nvPr/>
        </p:nvSpPr>
        <p:spPr>
          <a:xfrm xmlns:a="http://schemas.openxmlformats.org/drawingml/2006/main">
            <a:off x="4476750" y="3943350"/>
            <a:ext cx="3238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All three shares present</a:t>
            </a:r>
          </a:p>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Fixed hotel signature</a:t>
            </a:r>
          </a:p>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Before the deadline</a:t>
            </a:r>
          </a:p>
        </p:txBody>
      </p:sp>
      <p:sp>
        <p:nvSpPr>
          <p:cNvPr id="9" name="">
            <a:extLst xmlns:a="http://schemas.openxmlformats.org/drawingml/2006/main">
              <a:ext uri="{FF2B5EF4-FFF2-40B4-BE49-F238E27FC236}">
                <a16:creationId xmlns:a16="http://schemas.microsoft.com/office/drawing/2014/main" id="{23F9FFDB-2C2B-4CC5-B657-5D15D186D2C5}"/>
              </a:ext>
            </a:extLst>
          </p:cNvPr>
          <p:cNvSpPr>
            <a:spLocks xmlns:a="http://schemas.openxmlformats.org/drawingml/2006/main" noGrp="1"/>
          </p:cNvSpPr>
          <p:nvPr/>
        </p:nvSpPr>
        <p:spPr>
          <a:xfrm xmlns:a="http://schemas.openxmlformats.org/drawingml/2006/main">
            <a:off x="8286750" y="179070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6F8268"/>
                </a:solidFill>
                <a:latin typeface="Helvetica Neue"/>
                <a:ea typeface="Helvetica Neue"/>
                <a:cs typeface="Helvetica Neue"/>
              </a:defRPr>
            </a:pPr>
            <a:r>
              <a:rPr sz="4800" b="1">
                <a:solidFill>
                  <a:srgbClr val="6F8268"/>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7A5F1247-521A-4E2F-A79F-F7DC7A6615EA}"/>
              </a:ext>
            </a:extLst>
          </p:cNvPr>
          <p:cNvSpPr>
            <a:spLocks xmlns:a="http://schemas.openxmlformats.org/drawingml/2006/main" noGrp="1"/>
          </p:cNvSpPr>
          <p:nvPr/>
        </p:nvSpPr>
        <p:spPr>
          <a:xfrm xmlns:a="http://schemas.openxmlformats.org/drawingml/2006/main">
            <a:off x="8286750" y="28765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372E"/>
                </a:solidFill>
                <a:latin typeface="Helvetica Neue"/>
                <a:ea typeface="Helvetica Neue"/>
                <a:cs typeface="Helvetica Neue"/>
              </a:defRPr>
            </a:pPr>
            <a:r>
              <a:rPr sz="2325" b="1">
                <a:solidFill>
                  <a:srgbClr val="19372E"/>
                </a:solidFill>
                <a:latin typeface="Helvetica Neue"/>
                <a:ea typeface="Helvetica Neue"/>
                <a:cs typeface="Helvetica Neue"/>
              </a:rPr>
              <a:t>Each student refunds</a:t>
            </a:r>
          </a:p>
        </p:txBody>
      </p:sp>
      <p:sp>
        <p:nvSpPr>
          <p:cNvPr id="11" name="">
            <a:extLst xmlns:a="http://schemas.openxmlformats.org/drawingml/2006/main">
              <a:ext uri="{FF2B5EF4-FFF2-40B4-BE49-F238E27FC236}">
                <a16:creationId xmlns:a16="http://schemas.microsoft.com/office/drawing/2014/main" id="{A4F6E2B3-0DB8-4D7A-A428-92258CFB21D8}"/>
              </a:ext>
            </a:extLst>
          </p:cNvPr>
          <p:cNvSpPr>
            <a:spLocks xmlns:a="http://schemas.openxmlformats.org/drawingml/2006/main" noGrp="1"/>
          </p:cNvSpPr>
          <p:nvPr/>
        </p:nvSpPr>
        <p:spPr>
          <a:xfrm xmlns:a="http://schemas.openxmlformats.org/drawingml/2006/main">
            <a:off x="8286750" y="3943350"/>
            <a:ext cx="3238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If the hotel misses the deadline</a:t>
            </a:r>
          </a:p>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Only the depositor’s share</a:t>
            </a:r>
          </a:p>
          <a:p xmlns:a="http://schemas.openxmlformats.org/drawingml/2006/main">
            <a:pPr>
              <a:defRPr sz="1950" b="0">
                <a:solidFill>
                  <a:srgbClr val="6F8268"/>
                </a:solidFill>
                <a:latin typeface="Helvetica Neue"/>
                <a:ea typeface="Helvetica Neue"/>
                <a:cs typeface="Helvetica Neue"/>
              </a:defRPr>
            </a:pPr>
            <a:r>
              <a:rPr sz="1950" b="0">
                <a:solidFill>
                  <a:srgbClr val="6F8268"/>
                </a:solidFill>
                <a:latin typeface="Helvetica Neue"/>
                <a:ea typeface="Helvetica Neue"/>
                <a:cs typeface="Helvetica Neue"/>
              </a:rPr>
              <a:t>One refund per person</a:t>
            </a:r>
          </a:p>
        </p:txBody>
      </p:sp>
    </p:spTree>
    <p:extLst>
      <p:ext uri="{BB962C8B-B14F-4D97-AF65-F5344CB8AC3E}">
        <p14:creationId xmlns:p14="http://schemas.microsoft.com/office/powerpoint/2010/main" val="1781800063"/>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1F149D-BA50-439A-97FA-DD136293CF57}"/>
              </a:ext>
            </a:extLst>
          </p:cNvPr>
          <p:cNvSpPr>
            <a:spLocks xmlns:a="http://schemas.openxmlformats.org/drawingml/2006/main" noGrp="1"/>
          </p:cNvSpPr>
          <p:nvPr/>
        </p:nvSpPr>
        <p:spPr>
          <a:xfrm xmlns:a="http://schemas.openxmlformats.org/drawingml/2006/main">
            <a:off x="666750" y="4953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72E"/>
                </a:solidFill>
                <a:latin typeface="Helvetica Neue"/>
                <a:ea typeface="Helvetica Neue"/>
                <a:cs typeface="Helvetica Neue"/>
              </a:defRPr>
            </a:pPr>
            <a:r>
              <a:rPr sz="3450" b="1">
                <a:solidFill>
                  <a:srgbClr val="19372E"/>
                </a:solidFill>
                <a:latin typeface="Helvetica Neue"/>
                <a:ea typeface="Helvetica Neue"/>
                <a:cs typeface="Helvetica Neue"/>
              </a:rPr>
              <a:t>Solana enforces the escrow</a:t>
            </a:r>
          </a:p>
        </p:txBody>
      </p:sp>
      <p:sp>
        <p:nvSpPr>
          <p:cNvPr id="2" name="">
            <a:extLst xmlns:a="http://schemas.openxmlformats.org/drawingml/2006/main">
              <a:ext uri="{FF2B5EF4-FFF2-40B4-BE49-F238E27FC236}">
                <a16:creationId xmlns:a16="http://schemas.microsoft.com/office/drawing/2014/main" id="{A50192B0-4CED-4D66-89C9-64BEF8E6CD92}"/>
              </a:ext>
            </a:extLst>
          </p:cNvPr>
          <p:cNvSpPr>
            <a:spLocks xmlns:a="http://schemas.openxmlformats.org/drawingml/2006/main" noGrp="1"/>
          </p:cNvSpPr>
          <p:nvPr/>
        </p:nvSpPr>
        <p:spPr>
          <a:xfrm xmlns:a="http://schemas.openxmlformats.org/drawingml/2006/main">
            <a:off x="666750" y="62579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F8268"/>
                </a:solidFill>
                <a:latin typeface="Helvetica Neue"/>
                <a:ea typeface="Helvetica Neue"/>
                <a:cs typeface="Helvetica Neue"/>
              </a:defRPr>
            </a:pPr>
            <a:r>
              <a:rPr sz="1275" b="0">
                <a:solidFill>
                  <a:srgbClr val="6F8268"/>
                </a:solidFill>
                <a:latin typeface="Helvetica Neue"/>
                <a:ea typeface="Helvetica Neue"/>
                <a:cs typeface="Helvetica Neue"/>
              </a:rPr>
              <a:t>CrewFund / Test SOL prototype</a:t>
            </a:r>
          </a:p>
        </p:txBody>
      </p:sp>
      <p:sp>
        <p:nvSpPr>
          <p:cNvPr id="3" name="">
            <a:extLst xmlns:a="http://schemas.openxmlformats.org/drawingml/2006/main">
              <a:ext uri="{FF2B5EF4-FFF2-40B4-BE49-F238E27FC236}">
                <a16:creationId xmlns:a16="http://schemas.microsoft.com/office/drawing/2014/main" id="{0D9A5AED-A28F-40E1-9AD7-9E0BAA4A4C2A}"/>
              </a:ext>
            </a:extLst>
          </p:cNvPr>
          <p:cNvSpPr>
            <a:spLocks xmlns:a="http://schemas.openxmlformats.org/drawingml/2006/main" noGrp="1"/>
          </p:cNvSpPr>
          <p:nvPr/>
        </p:nvSpPr>
        <p:spPr>
          <a:xfrm xmlns:a="http://schemas.openxmlformats.org/drawingml/2006/main">
            <a:off x="666750" y="17430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9372E"/>
                </a:solidFill>
                <a:latin typeface="Helvetica Neue"/>
                <a:ea typeface="Helvetica Neue"/>
                <a:cs typeface="Helvetica Neue"/>
              </a:defRPr>
            </a:pPr>
            <a:r>
              <a:rPr sz="2700" b="1">
                <a:solidFill>
                  <a:srgbClr val="19372E"/>
                </a:solidFill>
                <a:latin typeface="Helvetica Neue"/>
                <a:ea typeface="Helvetica Neue"/>
                <a:cs typeface="Helvetica Neue"/>
              </a:rPr>
              <a:t>A program-owned account holds the funds.</a:t>
            </a:r>
          </a:p>
        </p:txBody>
      </p:sp>
      <p:sp>
        <p:nvSpPr>
          <p:cNvPr id="4" name="">
            <a:extLst xmlns:a="http://schemas.openxmlformats.org/drawingml/2006/main">
              <a:ext uri="{FF2B5EF4-FFF2-40B4-BE49-F238E27FC236}">
                <a16:creationId xmlns:a16="http://schemas.microsoft.com/office/drawing/2014/main" id="{48020CF5-45A7-432F-B007-E588E7D6459E}"/>
              </a:ext>
            </a:extLst>
          </p:cNvPr>
          <p:cNvSpPr>
            <a:spLocks xmlns:a="http://schemas.openxmlformats.org/drawingml/2006/main" noGrp="1"/>
          </p:cNvSpPr>
          <p:nvPr/>
        </p:nvSpPr>
        <p:spPr>
          <a:xfrm xmlns:a="http://schemas.openxmlformats.org/drawingml/2006/main">
            <a:off x="666750" y="2762250"/>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6F8268"/>
                </a:solidFill>
                <a:latin typeface="Helvetica Neue"/>
                <a:ea typeface="Helvetica Neue"/>
                <a:cs typeface="Helvetica Neue"/>
              </a:defRPr>
            </a:pPr>
            <a:r>
              <a:rPr sz="2325" b="0">
                <a:solidFill>
                  <a:srgbClr val="6F8268"/>
                </a:solidFill>
                <a:latin typeface="Helvetica Neue"/>
                <a:ea typeface="Helvetica Neue"/>
                <a:cs typeface="Helvetica Neue"/>
              </a:rPr>
              <a:t>No participant can privately withdraw the pool.</a:t>
            </a:r>
          </a:p>
          <a:p xmlns:a="http://schemas.openxmlformats.org/drawingml/2006/main">
            <a:pPr>
              <a:defRPr sz="2325" b="0">
                <a:solidFill>
                  <a:srgbClr val="6F8268"/>
                </a:solidFill>
                <a:latin typeface="Helvetica Neue"/>
                <a:ea typeface="Helvetica Neue"/>
                <a:cs typeface="Helvetica Neue"/>
              </a:defRPr>
            </a:pPr>
            <a:r>
              <a:rPr sz="2325" b="0">
                <a:solidFill>
                  <a:srgbClr val="6F8268"/>
                </a:solidFill>
                <a:latin typeface="Helvetica Neue"/>
                <a:ea typeface="Helvetica Neue"/>
                <a:cs typeface="Helvetica Neue"/>
              </a:rPr>
              <a:t>The fixed hotel signs and receives the full payment.</a:t>
            </a:r>
          </a:p>
          <a:p xmlns:a="http://schemas.openxmlformats.org/drawingml/2006/main">
            <a:pPr>
              <a:defRPr sz="2325" b="0">
                <a:solidFill>
                  <a:srgbClr val="6F8268"/>
                </a:solidFill>
                <a:latin typeface="Helvetica Neue"/>
                <a:ea typeface="Helvetica Neue"/>
                <a:cs typeface="Helvetica Neue"/>
              </a:defRPr>
            </a:pPr>
            <a:r>
              <a:rPr sz="2325" b="0">
                <a:solidFill>
                  <a:srgbClr val="6F8268"/>
                </a:solidFill>
                <a:latin typeface="Helvetica Neue"/>
                <a:ea typeface="Helvetica Neue"/>
                <a:cs typeface="Helvetica Neue"/>
              </a:rPr>
              <a:t>The deadline separates confirmation from refunds.</a:t>
            </a:r>
          </a:p>
        </p:txBody>
      </p:sp>
      <p:sp>
        <p:nvSpPr>
          <p:cNvPr id="5" name="">
            <a:extLst xmlns:a="http://schemas.openxmlformats.org/drawingml/2006/main">
              <a:ext uri="{FF2B5EF4-FFF2-40B4-BE49-F238E27FC236}">
                <a16:creationId xmlns:a16="http://schemas.microsoft.com/office/drawing/2014/main" id="{910EF87A-3B9C-4985-AE3E-88FCED1AFDF8}"/>
              </a:ext>
            </a:extLst>
          </p:cNvPr>
          <p:cNvSpPr>
            <a:spLocks xmlns:a="http://schemas.openxmlformats.org/drawingml/2006/main" noGrp="1"/>
          </p:cNvSpPr>
          <p:nvPr/>
        </p:nvSpPr>
        <p:spPr>
          <a:xfrm xmlns:a="http://schemas.openxmlformats.org/drawingml/2006/main">
            <a:off x="666750" y="5000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372E"/>
                </a:solidFill>
                <a:latin typeface="Helvetica Neue"/>
                <a:ea typeface="Helvetica Neue"/>
                <a:cs typeface="Helvetica Neue"/>
              </a:defRPr>
            </a:pPr>
            <a:r>
              <a:rPr sz="2175" b="1">
                <a:solidFill>
                  <a:srgbClr val="19372E"/>
                </a:solidFill>
                <a:latin typeface="Helvetica Neue"/>
                <a:ea typeface="Helvetica Neue"/>
                <a:cs typeface="Helvetica Neue"/>
              </a:rPr>
              <a:t>Booking terms stay fixed.</a:t>
            </a:r>
          </a:p>
          <a:p xmlns:a="http://schemas.openxmlformats.org/drawingml/2006/main">
            <a:pPr>
              <a:defRPr sz="2175" b="1">
                <a:solidFill>
                  <a:srgbClr val="19372E"/>
                </a:solidFill>
                <a:latin typeface="Helvetica Neue"/>
                <a:ea typeface="Helvetica Neue"/>
                <a:cs typeface="Helvetica Neue"/>
              </a:defRPr>
            </a:pPr>
            <a:r>
              <a:rPr sz="2175" b="1">
                <a:solidFill>
                  <a:srgbClr val="19372E"/>
                </a:solidFill>
                <a:latin typeface="Helvetica Neue"/>
                <a:ea typeface="Helvetica Neue"/>
                <a:cs typeface="Helvetica Neue"/>
              </a:rPr>
              <a:t>The demonstrated program has no upgrade authority.</a:t>
            </a:r>
          </a:p>
        </p:txBody>
      </p:sp>
    </p:spTree>
    <p:extLst>
      <p:ext uri="{BB962C8B-B14F-4D97-AF65-F5344CB8AC3E}">
        <p14:creationId xmlns:p14="http://schemas.microsoft.com/office/powerpoint/2010/main" val="1896405079"/>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8E053A-302B-4C42-936D-575F53186C55}"/>
              </a:ext>
            </a:extLst>
          </p:cNvPr>
          <p:cNvSpPr>
            <a:spLocks xmlns:a="http://schemas.openxmlformats.org/drawingml/2006/main" noGrp="1"/>
          </p:cNvSpPr>
          <p:nvPr/>
        </p:nvSpPr>
        <p:spPr>
          <a:xfrm xmlns:a="http://schemas.openxmlformats.org/drawingml/2006/main">
            <a:off x="666750" y="4953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72E"/>
                </a:solidFill>
                <a:latin typeface="Helvetica Neue"/>
                <a:ea typeface="Helvetica Neue"/>
                <a:cs typeface="Helvetica Neue"/>
              </a:defRPr>
            </a:pPr>
            <a:r>
              <a:rPr sz="3450" b="1">
                <a:solidFill>
                  <a:srgbClr val="19372E"/>
                </a:solidFill>
                <a:latin typeface="Helvetica Neue"/>
                <a:ea typeface="Helvetica Neue"/>
                <a:cs typeface="Helvetica Neue"/>
              </a:rPr>
              <a:t>Working prototype and test evidence</a:t>
            </a:r>
          </a:p>
        </p:txBody>
      </p:sp>
      <p:sp>
        <p:nvSpPr>
          <p:cNvPr id="2" name="">
            <a:extLst xmlns:a="http://schemas.openxmlformats.org/drawingml/2006/main">
              <a:ext uri="{FF2B5EF4-FFF2-40B4-BE49-F238E27FC236}">
                <a16:creationId xmlns:a16="http://schemas.microsoft.com/office/drawing/2014/main" id="{DFF7DF0A-853F-4DAF-B8C3-C6DF3B5879AD}"/>
              </a:ext>
            </a:extLst>
          </p:cNvPr>
          <p:cNvSpPr>
            <a:spLocks xmlns:a="http://schemas.openxmlformats.org/drawingml/2006/main" noGrp="1"/>
          </p:cNvSpPr>
          <p:nvPr/>
        </p:nvSpPr>
        <p:spPr>
          <a:xfrm xmlns:a="http://schemas.openxmlformats.org/drawingml/2006/main">
            <a:off x="666750" y="62579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F8268"/>
                </a:solidFill>
                <a:latin typeface="Helvetica Neue"/>
                <a:ea typeface="Helvetica Neue"/>
                <a:cs typeface="Helvetica Neue"/>
              </a:defRPr>
            </a:pPr>
            <a:r>
              <a:rPr sz="1275" b="0">
                <a:solidFill>
                  <a:srgbClr val="6F8268"/>
                </a:solidFill>
                <a:latin typeface="Helvetica Neue"/>
                <a:ea typeface="Helvetica Neue"/>
                <a:cs typeface="Helvetica Neue"/>
              </a:rPr>
              <a:t>CrewFund / Test SOL prototype</a:t>
            </a:r>
          </a:p>
        </p:txBody>
      </p:sp>
      <p:sp>
        <p:nvSpPr>
          <p:cNvPr id="3" name="">
            <a:extLst xmlns:a="http://schemas.openxmlformats.org/drawingml/2006/main">
              <a:ext uri="{FF2B5EF4-FFF2-40B4-BE49-F238E27FC236}">
                <a16:creationId xmlns:a16="http://schemas.microsoft.com/office/drawing/2014/main" id="{CA2FD1D3-134C-4C53-B7E0-F6D156D1F928}"/>
              </a:ext>
            </a:extLst>
          </p:cNvPr>
          <p:cNvSpPr>
            <a:spLocks xmlns:a="http://schemas.openxmlformats.org/drawingml/2006/main" noGrp="1"/>
          </p:cNvSpPr>
          <p:nvPr/>
        </p:nvSpPr>
        <p:spPr>
          <a:xfrm xmlns:a="http://schemas.openxmlformats.org/drawingml/2006/main">
            <a:off x="666750" y="180975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9372E"/>
                </a:solidFill>
                <a:latin typeface="Helvetica Neue"/>
                <a:ea typeface="Helvetica Neue"/>
                <a:cs typeface="Helvetica Neue"/>
              </a:defRPr>
            </a:pPr>
            <a:r>
              <a:rPr sz="2700" b="1">
                <a:solidFill>
                  <a:srgbClr val="19372E"/>
                </a:solidFill>
                <a:latin typeface="Helvetica Neue"/>
                <a:ea typeface="Helvetica Neue"/>
                <a:cs typeface="Helvetica Neue"/>
              </a:rPr>
              <a:t>5 passing integration tests</a:t>
            </a:r>
          </a:p>
        </p:txBody>
      </p:sp>
      <p:sp>
        <p:nvSpPr>
          <p:cNvPr id="4" name="">
            <a:extLst xmlns:a="http://schemas.openxmlformats.org/drawingml/2006/main">
              <a:ext uri="{FF2B5EF4-FFF2-40B4-BE49-F238E27FC236}">
                <a16:creationId xmlns:a16="http://schemas.microsoft.com/office/drawing/2014/main" id="{DA9F9362-69DA-4548-B2C7-3F1C9887096D}"/>
              </a:ext>
            </a:extLst>
          </p:cNvPr>
          <p:cNvSpPr>
            <a:spLocks xmlns:a="http://schemas.openxmlformats.org/drawingml/2006/main" noGrp="1"/>
          </p:cNvSpPr>
          <p:nvPr/>
        </p:nvSpPr>
        <p:spPr>
          <a:xfrm xmlns:a="http://schemas.openxmlformats.org/drawingml/2006/main">
            <a:off x="666750" y="2800350"/>
            <a:ext cx="6000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F8268"/>
                </a:solidFill>
                <a:latin typeface="Helvetica Neue"/>
                <a:ea typeface="Helvetica Neue"/>
                <a:cs typeface="Helvetica Neue"/>
              </a:defRPr>
            </a:pPr>
            <a:r>
              <a:rPr sz="2025" b="0">
                <a:solidFill>
                  <a:srgbClr val="6F8268"/>
                </a:solidFill>
                <a:latin typeface="Helvetica Neue"/>
                <a:ea typeface="Helvetica Neue"/>
                <a:cs typeface="Helvetica Neue"/>
              </a:rPr>
              <a:t>Exact hotel payout</a:t>
            </a:r>
          </a:p>
          <a:p xmlns:a="http://schemas.openxmlformats.org/drawingml/2006/main">
            <a:pPr>
              <a:defRPr sz="2025" b="0">
                <a:solidFill>
                  <a:srgbClr val="6F8268"/>
                </a:solidFill>
                <a:latin typeface="Helvetica Neue"/>
                <a:ea typeface="Helvetica Neue"/>
                <a:cs typeface="Helvetica Neue"/>
              </a:defRPr>
            </a:pPr>
            <a:r>
              <a:rPr sz="2025" b="0">
                <a:solidFill>
                  <a:srgbClr val="6F8268"/>
                </a:solidFill>
                <a:latin typeface="Helvetica Neue"/>
                <a:ea typeface="Helvetica Neue"/>
                <a:cs typeface="Helvetica Neue"/>
              </a:rPr>
              <a:t>Failed funding and own-share refunds</a:t>
            </a:r>
          </a:p>
          <a:p xmlns:a="http://schemas.openxmlformats.org/drawingml/2006/main">
            <a:pPr>
              <a:defRPr sz="2025" b="0">
                <a:solidFill>
                  <a:srgbClr val="6F8268"/>
                </a:solidFill>
                <a:latin typeface="Helvetica Neue"/>
                <a:ea typeface="Helvetica Neue"/>
                <a:cs typeface="Helvetica Neue"/>
              </a:defRPr>
            </a:pPr>
            <a:r>
              <a:rPr sz="2025" b="0">
                <a:solidFill>
                  <a:srgbClr val="6F8268"/>
                </a:solidFill>
                <a:latin typeface="Helvetica Neue"/>
                <a:ea typeface="Helvetica Neue"/>
                <a:cs typeface="Helvetica Neue"/>
              </a:rPr>
              <a:t>Unauthorized actions rejected</a:t>
            </a:r>
          </a:p>
          <a:p xmlns:a="http://schemas.openxmlformats.org/drawingml/2006/main">
            <a:pPr>
              <a:defRPr sz="2025" b="0">
                <a:solidFill>
                  <a:srgbClr val="6F8268"/>
                </a:solidFill>
                <a:latin typeface="Helvetica Neue"/>
                <a:ea typeface="Helvetica Neue"/>
                <a:cs typeface="Helvetica Neue"/>
              </a:defRPr>
            </a:pPr>
            <a:r>
              <a:rPr sz="2025" b="0">
                <a:solidFill>
                  <a:srgbClr val="6F8268"/>
                </a:solidFill>
                <a:latin typeface="Helvetica Neue"/>
                <a:ea typeface="Helvetica Neue"/>
                <a:cs typeface="Helvetica Neue"/>
              </a:rPr>
              <a:t>Duplicate deposits and refunds rejected</a:t>
            </a:r>
          </a:p>
          <a:p xmlns:a="http://schemas.openxmlformats.org/drawingml/2006/main">
            <a:pPr>
              <a:defRPr sz="2025" b="0">
                <a:solidFill>
                  <a:srgbClr val="6F8268"/>
                </a:solidFill>
                <a:latin typeface="Helvetica Neue"/>
                <a:ea typeface="Helvetica Neue"/>
                <a:cs typeface="Helvetica Neue"/>
              </a:defRPr>
            </a:pPr>
            <a:r>
              <a:rPr sz="2025" b="0">
                <a:solidFill>
                  <a:srgbClr val="6F8268"/>
                </a:solidFill>
                <a:latin typeface="Helvetica Neue"/>
                <a:ea typeface="Helvetica Neue"/>
                <a:cs typeface="Helvetica Neue"/>
              </a:rPr>
              <a:t>Fully funded booking without confirmation</a:t>
            </a:r>
          </a:p>
        </p:txBody>
      </p:sp>
      <p:sp>
        <p:nvSpPr>
          <p:cNvPr id="5" name="">
            <a:extLst xmlns:a="http://schemas.openxmlformats.org/drawingml/2006/main">
              <a:ext uri="{FF2B5EF4-FFF2-40B4-BE49-F238E27FC236}">
                <a16:creationId xmlns:a16="http://schemas.microsoft.com/office/drawing/2014/main" id="{CE68F24C-3937-4834-AD59-272D550AF2DF}"/>
              </a:ext>
            </a:extLst>
          </p:cNvPr>
          <p:cNvSpPr>
            <a:spLocks xmlns:a="http://schemas.openxmlformats.org/drawingml/2006/main" noGrp="1"/>
          </p:cNvSpPr>
          <p:nvPr/>
        </p:nvSpPr>
        <p:spPr>
          <a:xfrm xmlns:a="http://schemas.openxmlformats.org/drawingml/2006/main">
            <a:off x="666750" y="5467350"/>
            <a:ext cx="600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9372E"/>
                </a:solidFill>
                <a:latin typeface="Helvetica Neue"/>
                <a:ea typeface="Helvetica Neue"/>
                <a:cs typeface="Helvetica Neue"/>
              </a:defRPr>
            </a:pPr>
            <a:r>
              <a:rPr sz="1725" b="1">
                <a:solidFill>
                  <a:srgbClr val="19372E"/>
                </a:solidFill>
                <a:latin typeface="Helvetica Neue"/>
                <a:ea typeface="Helvetica Neue"/>
                <a:cs typeface="Helvetica Neue"/>
              </a:rPr>
              <a:t>English React / TypeScript interface</a:t>
            </a:r>
          </a:p>
          <a:p xmlns:a="http://schemas.openxmlformats.org/drawingml/2006/main">
            <a:pPr>
              <a:defRPr sz="1725" b="1">
                <a:solidFill>
                  <a:srgbClr val="19372E"/>
                </a:solidFill>
                <a:latin typeface="Helvetica Neue"/>
                <a:ea typeface="Helvetica Neue"/>
                <a:cs typeface="Helvetica Neue"/>
              </a:defRPr>
            </a:pPr>
            <a:r>
              <a:rPr sz="1725" b="1">
                <a:solidFill>
                  <a:srgbClr val="19372E"/>
                </a:solidFill>
                <a:latin typeface="Helvetica Neue"/>
                <a:ea typeface="Helvetica Neue"/>
                <a:cs typeface="Helvetica Neue"/>
              </a:rPr>
              <a:t>Full deposit-to-confirmation browser flow</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7f66717da1949d8"/>
          <a:stretch xmlns:a="http://schemas.openxmlformats.org/drawingml/2006/main"/>
        </p:blipFill>
        <p:spPr>
          <a:xfrm xmlns:a="http://schemas.openxmlformats.org/drawingml/2006/main">
            <a:off x="7524783" y="1666875"/>
            <a:ext cx="3762309" cy="4429125"/>
          </a:xfrm>
          <a:prstGeom xmlns:a="http://schemas.openxmlformats.org/drawingml/2006/main" prst="rect">
            <a:avLst/>
          </a:prstGeom>
        </p:spPr>
      </p:pic>
    </p:spTree>
    <p:extLst>
      <p:ext uri="{BB962C8B-B14F-4D97-AF65-F5344CB8AC3E}">
        <p14:creationId xmlns:p14="http://schemas.microsoft.com/office/powerpoint/2010/main" val="522157064"/>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F5668A-32BC-4DCD-BA8D-DB43FB4CBAE7}"/>
              </a:ext>
            </a:extLst>
          </p:cNvPr>
          <p:cNvSpPr>
            <a:spLocks xmlns:a="http://schemas.openxmlformats.org/drawingml/2006/main" noGrp="1"/>
          </p:cNvSpPr>
          <p:nvPr/>
        </p:nvSpPr>
        <p:spPr>
          <a:xfrm xmlns:a="http://schemas.openxmlformats.org/drawingml/2006/main">
            <a:off x="666750" y="4953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72E"/>
                </a:solidFill>
                <a:latin typeface="Helvetica Neue"/>
                <a:ea typeface="Helvetica Neue"/>
                <a:cs typeface="Helvetica Neue"/>
              </a:defRPr>
            </a:pPr>
            <a:r>
              <a:rPr sz="3450" b="1">
                <a:solidFill>
                  <a:srgbClr val="19372E"/>
                </a:solidFill>
                <a:latin typeface="Helvetica Neue"/>
                <a:ea typeface="Helvetica Neue"/>
                <a:cs typeface="Helvetica Neue"/>
              </a:rPr>
              <a:t>First users and a small pilot</a:t>
            </a:r>
          </a:p>
        </p:txBody>
      </p:sp>
      <p:sp>
        <p:nvSpPr>
          <p:cNvPr id="2" name="">
            <a:extLst xmlns:a="http://schemas.openxmlformats.org/drawingml/2006/main">
              <a:ext uri="{FF2B5EF4-FFF2-40B4-BE49-F238E27FC236}">
                <a16:creationId xmlns:a16="http://schemas.microsoft.com/office/drawing/2014/main" id="{111C3A91-4B5A-4A1C-B523-612EA07DE30E}"/>
              </a:ext>
            </a:extLst>
          </p:cNvPr>
          <p:cNvSpPr>
            <a:spLocks xmlns:a="http://schemas.openxmlformats.org/drawingml/2006/main" noGrp="1"/>
          </p:cNvSpPr>
          <p:nvPr/>
        </p:nvSpPr>
        <p:spPr>
          <a:xfrm xmlns:a="http://schemas.openxmlformats.org/drawingml/2006/main">
            <a:off x="666750" y="62579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F8268"/>
                </a:solidFill>
                <a:latin typeface="Helvetica Neue"/>
                <a:ea typeface="Helvetica Neue"/>
                <a:cs typeface="Helvetica Neue"/>
              </a:defRPr>
            </a:pPr>
            <a:r>
              <a:rPr sz="1275" b="0">
                <a:solidFill>
                  <a:srgbClr val="6F8268"/>
                </a:solidFill>
                <a:latin typeface="Helvetica Neue"/>
                <a:ea typeface="Helvetica Neue"/>
                <a:cs typeface="Helvetica Neue"/>
              </a:rPr>
              <a:t>CrewFund / Test SOL prototype</a:t>
            </a:r>
          </a:p>
        </p:txBody>
      </p:sp>
      <p:sp>
        <p:nvSpPr>
          <p:cNvPr id="3" name="">
            <a:extLst xmlns:a="http://schemas.openxmlformats.org/drawingml/2006/main">
              <a:ext uri="{FF2B5EF4-FFF2-40B4-BE49-F238E27FC236}">
                <a16:creationId xmlns:a16="http://schemas.microsoft.com/office/drawing/2014/main" id="{BC139730-C246-4EAE-B7D3-936B8F13774D}"/>
              </a:ext>
            </a:extLst>
          </p:cNvPr>
          <p:cNvSpPr>
            <a:spLocks xmlns:a="http://schemas.openxmlformats.org/drawingml/2006/main" noGrp="1"/>
          </p:cNvSpPr>
          <p:nvPr/>
        </p:nvSpPr>
        <p:spPr>
          <a:xfrm xmlns:a="http://schemas.openxmlformats.org/drawingml/2006/main">
            <a:off x="666750" y="17335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9372E"/>
                </a:solidFill>
                <a:latin typeface="Helvetica Neue"/>
                <a:ea typeface="Helvetica Neue"/>
                <a:cs typeface="Helvetica Neue"/>
              </a:defRPr>
            </a:pPr>
            <a:r>
              <a:rPr sz="2700" b="1">
                <a:solidFill>
                  <a:srgbClr val="19372E"/>
                </a:solidFill>
                <a:latin typeface="Helvetica Neue"/>
                <a:ea typeface="Helvetica Neue"/>
                <a:cs typeface="Helvetica Neue"/>
              </a:rPr>
              <a:t>Student clubs organising shared trips</a:t>
            </a:r>
          </a:p>
        </p:txBody>
      </p:sp>
      <p:sp>
        <p:nvSpPr>
          <p:cNvPr id="4" name="">
            <a:extLst xmlns:a="http://schemas.openxmlformats.org/drawingml/2006/main">
              <a:ext uri="{FF2B5EF4-FFF2-40B4-BE49-F238E27FC236}">
                <a16:creationId xmlns:a16="http://schemas.microsoft.com/office/drawing/2014/main" id="{1597C1E6-81FD-4CE7-AAE5-2AEB8B4D4398}"/>
              </a:ext>
            </a:extLst>
          </p:cNvPr>
          <p:cNvSpPr>
            <a:spLocks xmlns:a="http://schemas.openxmlformats.org/drawingml/2006/main" noGrp="1"/>
          </p:cNvSpPr>
          <p:nvPr/>
        </p:nvSpPr>
        <p:spPr>
          <a:xfrm xmlns:a="http://schemas.openxmlformats.org/drawingml/2006/main">
            <a:off x="666750" y="2771775"/>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F8268"/>
                </a:solidFill>
                <a:latin typeface="Helvetica Neue"/>
                <a:ea typeface="Helvetica Neue"/>
                <a:cs typeface="Helvetica Neue"/>
              </a:defRPr>
            </a:pPr>
            <a:r>
              <a:rPr sz="2250" b="0">
                <a:solidFill>
                  <a:srgbClr val="6F8268"/>
                </a:solidFill>
                <a:latin typeface="Helvetica Neue"/>
                <a:ea typeface="Helvetica Neue"/>
                <a:cs typeface="Helvetica Neue"/>
              </a:rPr>
              <a:t>Reach two small groups through campus clubs.</a:t>
            </a:r>
          </a:p>
          <a:p xmlns:a="http://schemas.openxmlformats.org/drawingml/2006/main">
            <a:pPr>
              <a:defRPr sz="2250" b="0">
                <a:solidFill>
                  <a:srgbClr val="6F8268"/>
                </a:solidFill>
                <a:latin typeface="Helvetica Neue"/>
                <a:ea typeface="Helvetica Neue"/>
                <a:cs typeface="Helvetica Neue"/>
              </a:defRPr>
            </a:pPr>
            <a:r>
              <a:rPr sz="2250" b="0">
                <a:solidFill>
                  <a:srgbClr val="6F8268"/>
                </a:solidFill>
                <a:latin typeface="Helvetica Neue"/>
                <a:ea typeface="Helvetica Neue"/>
                <a:cs typeface="Helvetica Neue"/>
              </a:rPr>
              <a:t>Test whether they understand deposit and refund rights.</a:t>
            </a:r>
          </a:p>
          <a:p xmlns:a="http://schemas.openxmlformats.org/drawingml/2006/main">
            <a:pPr>
              <a:defRPr sz="2250" b="0">
                <a:solidFill>
                  <a:srgbClr val="6F8268"/>
                </a:solidFill>
                <a:latin typeface="Helvetica Neue"/>
                <a:ea typeface="Helvetica Neue"/>
                <a:cs typeface="Helvetica Neue"/>
              </a:defRPr>
            </a:pPr>
            <a:r>
              <a:rPr sz="2250" b="0">
                <a:solidFill>
                  <a:srgbClr val="6F8268"/>
                </a:solidFill>
                <a:latin typeface="Helvetica Neue"/>
                <a:ea typeface="Helvetica Neue"/>
                <a:cs typeface="Helvetica Neue"/>
              </a:rPr>
              <a:t>Use a provider-controlled test wallet in each demo.</a:t>
            </a:r>
          </a:p>
        </p:txBody>
      </p:sp>
      <p:sp>
        <p:nvSpPr>
          <p:cNvPr id="5" name="">
            <a:extLst xmlns:a="http://schemas.openxmlformats.org/drawingml/2006/main">
              <a:ext uri="{FF2B5EF4-FFF2-40B4-BE49-F238E27FC236}">
                <a16:creationId xmlns:a16="http://schemas.microsoft.com/office/drawing/2014/main" id="{2C015A5D-2469-4129-A674-D31C05A38B69}"/>
              </a:ext>
            </a:extLst>
          </p:cNvPr>
          <p:cNvSpPr>
            <a:spLocks xmlns:a="http://schemas.openxmlformats.org/drawingml/2006/main" noGrp="1"/>
          </p:cNvSpPr>
          <p:nvPr/>
        </p:nvSpPr>
        <p:spPr>
          <a:xfrm xmlns:a="http://schemas.openxmlformats.org/drawingml/2006/main">
            <a:off x="666750" y="48101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372E"/>
                </a:solidFill>
                <a:latin typeface="Helvetica Neue"/>
                <a:ea typeface="Helvetica Neue"/>
                <a:cs typeface="Helvetica Neue"/>
              </a:defRPr>
            </a:pPr>
            <a:r>
              <a:rPr sz="2250" b="1">
                <a:solidFill>
                  <a:srgbClr val="19372E"/>
                </a:solidFill>
                <a:latin typeface="Helvetica Neue"/>
                <a:ea typeface="Helvetica Neue"/>
                <a:cs typeface="Helvetica Neue"/>
              </a:rPr>
              <a:t>Pilot question</a:t>
            </a:r>
          </a:p>
        </p:txBody>
      </p:sp>
      <p:sp>
        <p:nvSpPr>
          <p:cNvPr id="6" name="">
            <a:extLst xmlns:a="http://schemas.openxmlformats.org/drawingml/2006/main">
              <a:ext uri="{FF2B5EF4-FFF2-40B4-BE49-F238E27FC236}">
                <a16:creationId xmlns:a16="http://schemas.microsoft.com/office/drawing/2014/main" id="{9954925B-DB53-436D-9E48-52A9C6AEF339}"/>
              </a:ext>
            </a:extLst>
          </p:cNvPr>
          <p:cNvSpPr>
            <a:spLocks xmlns:a="http://schemas.openxmlformats.org/drawingml/2006/main" noGrp="1"/>
          </p:cNvSpPr>
          <p:nvPr/>
        </p:nvSpPr>
        <p:spPr>
          <a:xfrm xmlns:a="http://schemas.openxmlformats.org/drawingml/2006/main">
            <a:off x="666750" y="55435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F8268"/>
                </a:solidFill>
                <a:latin typeface="Helvetica Neue"/>
                <a:ea typeface="Helvetica Neue"/>
                <a:cs typeface="Helvetica Neue"/>
              </a:defRPr>
            </a:pPr>
            <a:r>
              <a:rPr sz="2025" b="0">
                <a:solidFill>
                  <a:srgbClr val="6F8268"/>
                </a:solidFill>
                <a:latin typeface="Helvetica Neue"/>
                <a:ea typeface="Helvetica Neue"/>
                <a:cs typeface="Helvetica Neue"/>
              </a:rPr>
              <a:t>Will groups prefer fixed payment rules to one friend holding the pool?</a:t>
            </a:r>
          </a:p>
        </p:txBody>
      </p:sp>
    </p:spTree>
    <p:extLst>
      <p:ext uri="{BB962C8B-B14F-4D97-AF65-F5344CB8AC3E}">
        <p14:creationId xmlns:p14="http://schemas.microsoft.com/office/powerpoint/2010/main" val="556034974"/>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27A504-9221-4900-B7EB-E9A704F59A84}"/>
              </a:ext>
            </a:extLst>
          </p:cNvPr>
          <p:cNvSpPr>
            <a:spLocks xmlns:a="http://schemas.openxmlformats.org/drawingml/2006/main" noGrp="1"/>
          </p:cNvSpPr>
          <p:nvPr/>
        </p:nvSpPr>
        <p:spPr>
          <a:xfrm xmlns:a="http://schemas.openxmlformats.org/drawingml/2006/main">
            <a:off x="666750" y="4953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9372E"/>
                </a:solidFill>
                <a:latin typeface="Helvetica Neue"/>
                <a:ea typeface="Helvetica Neue"/>
                <a:cs typeface="Helvetica Neue"/>
              </a:defRPr>
            </a:pPr>
            <a:r>
              <a:rPr sz="3450" b="1">
                <a:solidFill>
                  <a:srgbClr val="19372E"/>
                </a:solidFill>
                <a:latin typeface="Helvetica Neue"/>
                <a:ea typeface="Helvetica Neue"/>
                <a:cs typeface="Helvetica Neue"/>
              </a:rPr>
              <a:t>Demo scope and next step</a:t>
            </a:r>
          </a:p>
        </p:txBody>
      </p:sp>
      <p:sp>
        <p:nvSpPr>
          <p:cNvPr id="2" name="">
            <a:extLst xmlns:a="http://schemas.openxmlformats.org/drawingml/2006/main">
              <a:ext uri="{FF2B5EF4-FFF2-40B4-BE49-F238E27FC236}">
                <a16:creationId xmlns:a16="http://schemas.microsoft.com/office/drawing/2014/main" id="{712D1665-F829-490E-8A0D-2AF90E25959A}"/>
              </a:ext>
            </a:extLst>
          </p:cNvPr>
          <p:cNvSpPr>
            <a:spLocks xmlns:a="http://schemas.openxmlformats.org/drawingml/2006/main" noGrp="1"/>
          </p:cNvSpPr>
          <p:nvPr/>
        </p:nvSpPr>
        <p:spPr>
          <a:xfrm xmlns:a="http://schemas.openxmlformats.org/drawingml/2006/main">
            <a:off x="666750" y="62579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F8268"/>
                </a:solidFill>
                <a:latin typeface="Helvetica Neue"/>
                <a:ea typeface="Helvetica Neue"/>
                <a:cs typeface="Helvetica Neue"/>
              </a:defRPr>
            </a:pPr>
            <a:r>
              <a:rPr sz="1275" b="0">
                <a:solidFill>
                  <a:srgbClr val="6F8268"/>
                </a:solidFill>
                <a:latin typeface="Helvetica Neue"/>
                <a:ea typeface="Helvetica Neue"/>
                <a:cs typeface="Helvetica Neue"/>
              </a:rPr>
              <a:t>CrewFund / Test SOL prototype</a:t>
            </a:r>
          </a:p>
        </p:txBody>
      </p:sp>
      <p:sp>
        <p:nvSpPr>
          <p:cNvPr id="3" name="">
            <a:extLst xmlns:a="http://schemas.openxmlformats.org/drawingml/2006/main">
              <a:ext uri="{FF2B5EF4-FFF2-40B4-BE49-F238E27FC236}">
                <a16:creationId xmlns:a16="http://schemas.microsoft.com/office/drawing/2014/main" id="{5CA9FEDC-1083-457D-AD5B-E0C302EE8A46}"/>
              </a:ext>
            </a:extLst>
          </p:cNvPr>
          <p:cNvSpPr>
            <a:spLocks xmlns:a="http://schemas.openxmlformats.org/drawingml/2006/main" noGrp="1"/>
          </p:cNvSpPr>
          <p:nvPr/>
        </p:nvSpPr>
        <p:spPr>
          <a:xfrm xmlns:a="http://schemas.openxmlformats.org/drawingml/2006/main">
            <a:off x="666750" y="17240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9372E"/>
                </a:solidFill>
                <a:latin typeface="Helvetica Neue"/>
                <a:ea typeface="Helvetica Neue"/>
                <a:cs typeface="Helvetica Neue"/>
              </a:defRPr>
            </a:pPr>
            <a:r>
              <a:rPr sz="2700" b="1">
                <a:solidFill>
                  <a:srgbClr val="19372E"/>
                </a:solidFill>
                <a:latin typeface="Helvetica Neue"/>
                <a:ea typeface="Helvetica Neue"/>
                <a:cs typeface="Helvetica Neue"/>
              </a:rPr>
              <a:t>Current demo: Localnet</a:t>
            </a:r>
          </a:p>
        </p:txBody>
      </p:sp>
      <p:sp>
        <p:nvSpPr>
          <p:cNvPr id="4" name="">
            <a:extLst xmlns:a="http://schemas.openxmlformats.org/drawingml/2006/main">
              <a:ext uri="{FF2B5EF4-FFF2-40B4-BE49-F238E27FC236}">
                <a16:creationId xmlns:a16="http://schemas.microsoft.com/office/drawing/2014/main" id="{83F500A7-519E-420A-AA12-84E8105A69BD}"/>
              </a:ext>
            </a:extLst>
          </p:cNvPr>
          <p:cNvSpPr>
            <a:spLocks xmlns:a="http://schemas.openxmlformats.org/drawingml/2006/main" noGrp="1"/>
          </p:cNvSpPr>
          <p:nvPr/>
        </p:nvSpPr>
        <p:spPr>
          <a:xfrm xmlns:a="http://schemas.openxmlformats.org/drawingml/2006/main">
            <a:off x="666750" y="26384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6F8268"/>
                </a:solidFill>
                <a:latin typeface="Helvetica Neue"/>
                <a:ea typeface="Helvetica Neue"/>
                <a:cs typeface="Helvetica Neue"/>
              </a:defRPr>
            </a:pPr>
            <a:r>
              <a:rPr sz="2250" b="0">
                <a:solidFill>
                  <a:srgbClr val="6F8268"/>
                </a:solidFill>
                <a:latin typeface="Helvetica Neue"/>
                <a:ea typeface="Helvetica Neue"/>
                <a:cs typeface="Helvetica Neue"/>
              </a:rPr>
              <a:t>Fictional test hotel and four separate test wallets</a:t>
            </a:r>
          </a:p>
          <a:p xmlns:a="http://schemas.openxmlformats.org/drawingml/2006/main">
            <a:pPr>
              <a:defRPr sz="2250" b="0">
                <a:solidFill>
                  <a:srgbClr val="6F8268"/>
                </a:solidFill>
                <a:latin typeface="Helvetica Neue"/>
                <a:ea typeface="Helvetica Neue"/>
                <a:cs typeface="Helvetica Neue"/>
              </a:defRPr>
            </a:pPr>
            <a:r>
              <a:rPr sz="2250" b="0">
                <a:solidFill>
                  <a:srgbClr val="6F8268"/>
                </a:solidFill>
                <a:latin typeface="Helvetica Neue"/>
                <a:ea typeface="Helvetica Neue"/>
                <a:cs typeface="Helvetica Neue"/>
              </a:rPr>
              <a:t>0.03 Test SOL total</a:t>
            </a:r>
          </a:p>
          <a:p xmlns:a="http://schemas.openxmlformats.org/drawingml/2006/main">
            <a:pPr>
              <a:defRPr sz="2250" b="0">
                <a:solidFill>
                  <a:srgbClr val="6F8268"/>
                </a:solidFill>
                <a:latin typeface="Helvetica Neue"/>
                <a:ea typeface="Helvetica Neue"/>
                <a:cs typeface="Helvetica Neue"/>
              </a:defRPr>
            </a:pPr>
            <a:r>
              <a:rPr sz="2250" b="0">
                <a:solidFill>
                  <a:srgbClr val="6F8268"/>
                </a:solidFill>
                <a:latin typeface="Helvetica Neue"/>
                <a:ea typeface="Helvetica Neue"/>
                <a:cs typeface="Helvetica Neue"/>
              </a:rPr>
              <a:t>Devnet deployment awaits faucet funding</a:t>
            </a:r>
          </a:p>
        </p:txBody>
      </p:sp>
      <p:sp>
        <p:nvSpPr>
          <p:cNvPr id="5" name="">
            <a:extLst xmlns:a="http://schemas.openxmlformats.org/drawingml/2006/main">
              <a:ext uri="{FF2B5EF4-FFF2-40B4-BE49-F238E27FC236}">
                <a16:creationId xmlns:a16="http://schemas.microsoft.com/office/drawing/2014/main" id="{AF0C7867-A324-4F88-84D7-9688C374253D}"/>
              </a:ext>
            </a:extLst>
          </p:cNvPr>
          <p:cNvSpPr>
            <a:spLocks xmlns:a="http://schemas.openxmlformats.org/drawingml/2006/main" noGrp="1"/>
          </p:cNvSpPr>
          <p:nvPr/>
        </p:nvSpPr>
        <p:spPr>
          <a:xfrm xmlns:a="http://schemas.openxmlformats.org/drawingml/2006/main">
            <a:off x="666750" y="4619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372E"/>
                </a:solidFill>
                <a:latin typeface="Helvetica Neue"/>
                <a:ea typeface="Helvetica Neue"/>
                <a:cs typeface="Helvetica Neue"/>
              </a:defRPr>
            </a:pPr>
            <a:r>
              <a:rPr sz="2250" b="1">
                <a:solidFill>
                  <a:srgbClr val="19372E"/>
                </a:solidFill>
                <a:latin typeface="Helvetica Neue"/>
                <a:ea typeface="Helvetica Neue"/>
                <a:cs typeface="Helvetica Neue"/>
              </a:rPr>
              <a:t>Next: independent wallet ownership and hotel integration</a:t>
            </a:r>
          </a:p>
        </p:txBody>
      </p:sp>
      <p:sp>
        <p:nvSpPr>
          <p:cNvPr id="6" name="">
            <a:extLst xmlns:a="http://schemas.openxmlformats.org/drawingml/2006/main">
              <a:ext uri="{FF2B5EF4-FFF2-40B4-BE49-F238E27FC236}">
                <a16:creationId xmlns:a16="http://schemas.microsoft.com/office/drawing/2014/main" id="{EACF597F-69B8-4FFB-9E63-1CB3B7A380F1}"/>
              </a:ext>
            </a:extLst>
          </p:cNvPr>
          <p:cNvSpPr>
            <a:spLocks xmlns:a="http://schemas.openxmlformats.org/drawingml/2006/main" noGrp="1"/>
          </p:cNvSpPr>
          <p:nvPr/>
        </p:nvSpPr>
        <p:spPr>
          <a:xfrm xmlns:a="http://schemas.openxmlformats.org/drawingml/2006/main">
            <a:off x="666750" y="54864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F8268"/>
                </a:solidFill>
                <a:latin typeface="Helvetica Neue"/>
                <a:ea typeface="Helvetica Neue"/>
                <a:cs typeface="Helvetica Neue"/>
              </a:defRPr>
            </a:pPr>
            <a:r>
              <a:rPr sz="2025" b="0">
                <a:solidFill>
                  <a:srgbClr val="6F8268"/>
                </a:solidFill>
                <a:latin typeface="Helvetica Neue"/>
                <a:ea typeface="Helvetica Neue"/>
                <a:cs typeface="Helvetica Neue"/>
              </a:rPr>
              <a:t>External security review before any real-money use</a:t>
            </a:r>
          </a:p>
        </p:txBody>
      </p:sp>
    </p:spTree>
    <p:extLst>
      <p:ext uri="{BB962C8B-B14F-4D97-AF65-F5344CB8AC3E}">
        <p14:creationId xmlns:p14="http://schemas.microsoft.com/office/powerpoint/2010/main" val="19456923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2026-10-04T19:31:20.7010000Z</dcterms:created>
  <dcterms:modified xsi:type="dcterms:W3CDTF">2026-10-04T19:31:20.7010000Z</dcterms:modified>
</coreProperties>
</file>